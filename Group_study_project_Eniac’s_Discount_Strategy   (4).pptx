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Int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e0bca712b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e0bca712b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2ec82cae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2ec82cae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b7592144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b7592144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2ec5596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2ec5596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b7592144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b7592144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e0bca712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e0bca712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b7592144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bb7592144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b7592144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b759214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af4cbaaf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af4cbaaf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b7592144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b7592144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discounts cluster below 20% (benchmark range)</a:t>
            </a:r>
            <a:endParaRPr/>
          </a:p>
          <a:p>
            <a:pPr indent="0" lvl="0" marL="0" rtl="0" algn="l">
              <a:spcBef>
                <a:spcPts val="0"/>
              </a:spcBef>
              <a:spcAft>
                <a:spcPts val="0"/>
              </a:spcAft>
              <a:buNone/>
            </a:pPr>
            <a:r>
              <a:rPr lang="en"/>
              <a:t>*Discounts above 30% are rare - higher risk overcrowding the slide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b7592144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b7592144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9F7F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rot="1068171">
            <a:off x="5288750" y="-444848"/>
            <a:ext cx="4592096" cy="6637196"/>
          </a:xfrm>
          <a:prstGeom prst="rect">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12" y="1364387"/>
            <a:ext cx="4704600" cy="1708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3300">
                <a:solidFill>
                  <a:srgbClr val="434343"/>
                </a:solidFill>
                <a:latin typeface="Inter"/>
                <a:ea typeface="Inter"/>
                <a:cs typeface="Inter"/>
                <a:sym typeface="Inter"/>
              </a:rPr>
              <a:t>Group study project</a:t>
            </a:r>
            <a:endParaRPr b="1" sz="3300">
              <a:solidFill>
                <a:srgbClr val="434343"/>
              </a:solidFill>
              <a:latin typeface="Inter"/>
              <a:ea typeface="Inter"/>
              <a:cs typeface="Inter"/>
              <a:sym typeface="Inter"/>
            </a:endParaRPr>
          </a:p>
          <a:p>
            <a:pPr indent="0" lvl="0" marL="0" rtl="0" algn="r">
              <a:spcBef>
                <a:spcPts val="0"/>
              </a:spcBef>
              <a:spcAft>
                <a:spcPts val="0"/>
              </a:spcAft>
              <a:buNone/>
            </a:pPr>
            <a:r>
              <a:rPr b="1" lang="en" sz="3300">
                <a:solidFill>
                  <a:srgbClr val="F8485E"/>
                </a:solidFill>
                <a:latin typeface="Inter"/>
                <a:ea typeface="Inter"/>
                <a:cs typeface="Inter"/>
                <a:sym typeface="Inter"/>
              </a:rPr>
              <a:t>Eniac’s Discount Strategy  </a:t>
            </a:r>
            <a:endParaRPr b="1" sz="3300">
              <a:solidFill>
                <a:srgbClr val="F8485E"/>
              </a:solidFill>
              <a:latin typeface="Inter"/>
              <a:ea typeface="Inter"/>
              <a:cs typeface="Inter"/>
              <a:sym typeface="Inter"/>
            </a:endParaRPr>
          </a:p>
        </p:txBody>
      </p:sp>
      <p:sp>
        <p:nvSpPr>
          <p:cNvPr id="56" name="Google Shape;56;p13"/>
          <p:cNvSpPr txBox="1"/>
          <p:nvPr/>
        </p:nvSpPr>
        <p:spPr>
          <a:xfrm>
            <a:off x="1776626" y="3063150"/>
            <a:ext cx="2607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434343"/>
                </a:solidFill>
                <a:latin typeface="Inter"/>
                <a:ea typeface="Inter"/>
                <a:cs typeface="Inter"/>
                <a:sym typeface="Inter"/>
              </a:rPr>
              <a:t>by Marvin, Denys, Bengü, Stefano, Wadim</a:t>
            </a:r>
            <a:endParaRPr sz="1500">
              <a:solidFill>
                <a:srgbClr val="F8485E"/>
              </a:solidFill>
              <a:latin typeface="Inter"/>
              <a:ea typeface="Inter"/>
              <a:cs typeface="Inter"/>
              <a:sym typeface="Inter"/>
            </a:endParaRPr>
          </a:p>
        </p:txBody>
      </p:sp>
      <p:pic>
        <p:nvPicPr>
          <p:cNvPr id="57" name="Google Shape;57;p13"/>
          <p:cNvPicPr preferRelativeResize="0"/>
          <p:nvPr/>
        </p:nvPicPr>
        <p:blipFill>
          <a:blip r:embed="rId3">
            <a:alphaModFix/>
          </a:blip>
          <a:stretch>
            <a:fillRect/>
          </a:stretch>
        </p:blipFill>
        <p:spPr>
          <a:xfrm>
            <a:off x="324175" y="4515726"/>
            <a:ext cx="1199553" cy="316250"/>
          </a:xfrm>
          <a:prstGeom prst="rect">
            <a:avLst/>
          </a:prstGeom>
          <a:noFill/>
          <a:ln>
            <a:noFill/>
          </a:ln>
        </p:spPr>
      </p:pic>
      <p:grpSp>
        <p:nvGrpSpPr>
          <p:cNvPr id="58" name="Google Shape;58;p13"/>
          <p:cNvGrpSpPr/>
          <p:nvPr/>
        </p:nvGrpSpPr>
        <p:grpSpPr>
          <a:xfrm>
            <a:off x="723999" y="3044700"/>
            <a:ext cx="995835" cy="677187"/>
            <a:chOff x="527896" y="3044700"/>
            <a:chExt cx="995835" cy="677187"/>
          </a:xfrm>
        </p:grpSpPr>
        <p:sp>
          <p:nvSpPr>
            <p:cNvPr id="59" name="Google Shape;59;p13"/>
            <p:cNvSpPr/>
            <p:nvPr/>
          </p:nvSpPr>
          <p:spPr>
            <a:xfrm>
              <a:off x="527896" y="3050961"/>
              <a:ext cx="995835" cy="670926"/>
            </a:xfrm>
            <a:prstGeom prst="roundRect">
              <a:avLst>
                <a:gd fmla="val 2626" name="adj"/>
              </a:avLst>
            </a:prstGeom>
            <a:solidFill>
              <a:srgbClr val="CCCCCC"/>
            </a:solidFill>
            <a:ln>
              <a:noFill/>
            </a:ln>
          </p:spPr>
          <p:txBody>
            <a:bodyPr anchorCtr="0" anchor="ctr" bIns="93250" lIns="93250" spcFirstLastPara="1" rIns="93250" wrap="square" tIns="93250">
              <a:noAutofit/>
            </a:bodyPr>
            <a:lstStyle/>
            <a:p>
              <a:pPr indent="0" lvl="0" marL="0" rtl="0" algn="ctr">
                <a:spcBef>
                  <a:spcPts val="0"/>
                </a:spcBef>
                <a:spcAft>
                  <a:spcPts val="0"/>
                </a:spcAft>
                <a:buNone/>
              </a:pPr>
              <a:r>
                <a:t/>
              </a:r>
              <a:endParaRPr sz="1427"/>
            </a:p>
          </p:txBody>
        </p:sp>
        <p:pic>
          <p:nvPicPr>
            <p:cNvPr id="60" name="Google Shape;60;p13" title="image (1).png"/>
            <p:cNvPicPr preferRelativeResize="0"/>
            <p:nvPr/>
          </p:nvPicPr>
          <p:blipFill rotWithShape="1">
            <a:blip r:embed="rId4">
              <a:alphaModFix/>
            </a:blip>
            <a:srcRect b="12863" l="13600" r="13593" t="12863"/>
            <a:stretch/>
          </p:blipFill>
          <p:spPr>
            <a:xfrm>
              <a:off x="532400" y="3044700"/>
              <a:ext cx="986577" cy="6709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Conclusions</a:t>
            </a:r>
            <a:endParaRPr b="1" sz="1800">
              <a:solidFill>
                <a:srgbClr val="434343"/>
              </a:solidFill>
              <a:latin typeface="Cambria"/>
              <a:ea typeface="Cambria"/>
              <a:cs typeface="Cambria"/>
              <a:sym typeface="Cambria"/>
            </a:endParaRPr>
          </a:p>
        </p:txBody>
      </p:sp>
      <p:sp>
        <p:nvSpPr>
          <p:cNvPr id="66" name="Google Shape;66;p14"/>
          <p:cNvSpPr txBox="1"/>
          <p:nvPr/>
        </p:nvSpPr>
        <p:spPr>
          <a:xfrm>
            <a:off x="4810126" y="1092351"/>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2. 	</a:t>
            </a:r>
            <a:r>
              <a:rPr b="1" lang="en" sz="1700">
                <a:solidFill>
                  <a:srgbClr val="434343"/>
                </a:solidFill>
                <a:latin typeface="Cambria"/>
                <a:ea typeface="Cambria"/>
                <a:cs typeface="Cambria"/>
                <a:sym typeface="Cambria"/>
              </a:rPr>
              <a:t>Sweet Spot at 20–25%:</a:t>
            </a:r>
            <a:endParaRPr sz="1700">
              <a:solidFill>
                <a:srgbClr val="434343"/>
              </a:solidFill>
              <a:latin typeface="Cambria"/>
              <a:ea typeface="Cambria"/>
              <a:cs typeface="Cambria"/>
              <a:sym typeface="Cambria"/>
            </a:endParaRPr>
          </a:p>
        </p:txBody>
      </p:sp>
      <p:sp>
        <p:nvSpPr>
          <p:cNvPr id="67" name="Google Shape;67;p14"/>
          <p:cNvSpPr txBox="1"/>
          <p:nvPr/>
        </p:nvSpPr>
        <p:spPr>
          <a:xfrm>
            <a:off x="4026112" y="1492290"/>
            <a:ext cx="2114100" cy="6771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1000"/>
              </a:spcBef>
              <a:spcAft>
                <a:spcPts val="0"/>
              </a:spcAft>
              <a:buNone/>
            </a:pPr>
            <a:r>
              <a:rPr b="1" lang="en" sz="3200">
                <a:solidFill>
                  <a:srgbClr val="434343"/>
                </a:solidFill>
                <a:latin typeface="Cambria"/>
                <a:ea typeface="Cambria"/>
                <a:cs typeface="Cambria"/>
                <a:sym typeface="Cambria"/>
              </a:rPr>
              <a:t>20</a:t>
            </a:r>
            <a:r>
              <a:rPr b="1" lang="en" sz="3200">
                <a:solidFill>
                  <a:srgbClr val="434343"/>
                </a:solidFill>
                <a:latin typeface="Cambria"/>
                <a:ea typeface="Cambria"/>
                <a:cs typeface="Cambria"/>
                <a:sym typeface="Cambria"/>
              </a:rPr>
              <a:t>% </a:t>
            </a:r>
            <a:endParaRPr b="1" sz="3200">
              <a:solidFill>
                <a:srgbClr val="434343"/>
              </a:solidFill>
            </a:endParaRPr>
          </a:p>
        </p:txBody>
      </p:sp>
      <p:sp>
        <p:nvSpPr>
          <p:cNvPr id="68" name="Google Shape;68;p14"/>
          <p:cNvSpPr txBox="1"/>
          <p:nvPr/>
        </p:nvSpPr>
        <p:spPr>
          <a:xfrm>
            <a:off x="6016276" y="1443626"/>
            <a:ext cx="28236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Revenue peaks at moderate discounts; deeper cuts (&gt;30%) fail to deliver incremental gains.</a:t>
            </a:r>
            <a:endParaRPr>
              <a:solidFill>
                <a:srgbClr val="434343"/>
              </a:solidFill>
            </a:endParaRPr>
          </a:p>
        </p:txBody>
      </p:sp>
      <p:sp>
        <p:nvSpPr>
          <p:cNvPr id="69" name="Google Shape;69;p14"/>
          <p:cNvSpPr txBox="1"/>
          <p:nvPr/>
        </p:nvSpPr>
        <p:spPr>
          <a:xfrm>
            <a:off x="4810115" y="3145076"/>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4.	</a:t>
            </a:r>
            <a:r>
              <a:rPr b="1" lang="en" sz="1700">
                <a:solidFill>
                  <a:srgbClr val="434343"/>
                </a:solidFill>
                <a:latin typeface="Cambria"/>
                <a:ea typeface="Cambria"/>
                <a:cs typeface="Cambria"/>
                <a:sym typeface="Cambria"/>
              </a:rPr>
              <a:t>Weak Daily Impact:</a:t>
            </a:r>
            <a:endParaRPr sz="1700">
              <a:solidFill>
                <a:srgbClr val="434343"/>
              </a:solidFill>
              <a:latin typeface="Cambria"/>
              <a:ea typeface="Cambria"/>
              <a:cs typeface="Cambria"/>
              <a:sym typeface="Cambria"/>
            </a:endParaRPr>
          </a:p>
        </p:txBody>
      </p:sp>
      <p:sp>
        <p:nvSpPr>
          <p:cNvPr id="70" name="Google Shape;70;p14"/>
          <p:cNvSpPr txBox="1"/>
          <p:nvPr/>
        </p:nvSpPr>
        <p:spPr>
          <a:xfrm>
            <a:off x="4002902" y="3545015"/>
            <a:ext cx="21141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t/>
            </a:r>
            <a:endParaRPr b="1" sz="3200">
              <a:solidFill>
                <a:srgbClr val="434343"/>
              </a:solidFill>
            </a:endParaRPr>
          </a:p>
        </p:txBody>
      </p:sp>
      <p:sp>
        <p:nvSpPr>
          <p:cNvPr id="71" name="Google Shape;71;p14"/>
          <p:cNvSpPr txBox="1"/>
          <p:nvPr/>
        </p:nvSpPr>
        <p:spPr>
          <a:xfrm>
            <a:off x="5993066" y="3496351"/>
            <a:ext cx="2823600" cy="127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Outside peak events, discount size has little influence on day-to-day revenue.</a:t>
            </a:r>
            <a:endParaRPr>
              <a:solidFill>
                <a:srgbClr val="434343"/>
              </a:solidFill>
              <a:latin typeface="Cambria"/>
              <a:ea typeface="Cambria"/>
              <a:cs typeface="Cambria"/>
              <a:sym typeface="Cambria"/>
            </a:endParaRPr>
          </a:p>
          <a:p>
            <a:pPr indent="0" lvl="0" marL="0" rtl="0" algn="l">
              <a:lnSpc>
                <a:spcPct val="115000"/>
              </a:lnSpc>
              <a:spcBef>
                <a:spcPts val="1000"/>
              </a:spcBef>
              <a:spcAft>
                <a:spcPts val="0"/>
              </a:spcAft>
              <a:buNone/>
            </a:pPr>
            <a:r>
              <a:t/>
            </a:r>
            <a:endParaRPr>
              <a:solidFill>
                <a:srgbClr val="434343"/>
              </a:solidFill>
              <a:latin typeface="Cambria"/>
              <a:ea typeface="Cambria"/>
              <a:cs typeface="Cambria"/>
              <a:sym typeface="Cambria"/>
            </a:endParaRPr>
          </a:p>
        </p:txBody>
      </p:sp>
      <p:sp>
        <p:nvSpPr>
          <p:cNvPr id="72" name="Google Shape;72;p14"/>
          <p:cNvSpPr txBox="1"/>
          <p:nvPr/>
        </p:nvSpPr>
        <p:spPr>
          <a:xfrm>
            <a:off x="360061" y="1092351"/>
            <a:ext cx="41829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000"/>
              </a:spcBef>
              <a:spcAft>
                <a:spcPts val="0"/>
              </a:spcAft>
              <a:buClr>
                <a:srgbClr val="434343"/>
              </a:buClr>
              <a:buSzPts val="1700"/>
              <a:buFont typeface="Cambria"/>
              <a:buAutoNum type="arabicPeriod"/>
            </a:pPr>
            <a:r>
              <a:rPr b="1" lang="en" sz="1700">
                <a:solidFill>
                  <a:srgbClr val="434343"/>
                </a:solidFill>
                <a:latin typeface="Cambria"/>
                <a:ea typeface="Cambria"/>
                <a:cs typeface="Cambria"/>
                <a:sym typeface="Cambria"/>
              </a:rPr>
              <a:t>Discounts Are the Default:</a:t>
            </a:r>
            <a:endParaRPr sz="1700">
              <a:solidFill>
                <a:srgbClr val="434343"/>
              </a:solidFill>
              <a:latin typeface="Cambria"/>
              <a:ea typeface="Cambria"/>
              <a:cs typeface="Cambria"/>
              <a:sym typeface="Cambria"/>
            </a:endParaRPr>
          </a:p>
        </p:txBody>
      </p:sp>
      <p:sp>
        <p:nvSpPr>
          <p:cNvPr id="73" name="Google Shape;73;p14"/>
          <p:cNvSpPr txBox="1"/>
          <p:nvPr/>
        </p:nvSpPr>
        <p:spPr>
          <a:xfrm>
            <a:off x="-447152" y="1492290"/>
            <a:ext cx="2114100" cy="6771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1000"/>
              </a:spcBef>
              <a:spcAft>
                <a:spcPts val="0"/>
              </a:spcAft>
              <a:buNone/>
            </a:pPr>
            <a:r>
              <a:rPr b="1" lang="en" sz="3200">
                <a:solidFill>
                  <a:srgbClr val="434343"/>
                </a:solidFill>
                <a:latin typeface="Cambria"/>
                <a:ea typeface="Cambria"/>
                <a:cs typeface="Cambria"/>
                <a:sym typeface="Cambria"/>
              </a:rPr>
              <a:t>93% </a:t>
            </a:r>
            <a:endParaRPr b="1" sz="3200">
              <a:solidFill>
                <a:srgbClr val="434343"/>
              </a:solidFill>
            </a:endParaRPr>
          </a:p>
        </p:txBody>
      </p:sp>
      <p:sp>
        <p:nvSpPr>
          <p:cNvPr id="74" name="Google Shape;74;p14"/>
          <p:cNvSpPr txBox="1"/>
          <p:nvPr/>
        </p:nvSpPr>
        <p:spPr>
          <a:xfrm>
            <a:off x="1543011" y="1443626"/>
            <a:ext cx="28236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of order lines are sold at a discount, signaling permanent markdowns rather than tactical promotions.</a:t>
            </a:r>
            <a:endParaRPr>
              <a:solidFill>
                <a:srgbClr val="434343"/>
              </a:solidFill>
            </a:endParaRPr>
          </a:p>
        </p:txBody>
      </p:sp>
      <p:sp>
        <p:nvSpPr>
          <p:cNvPr id="75" name="Google Shape;75;p14"/>
          <p:cNvSpPr txBox="1"/>
          <p:nvPr/>
        </p:nvSpPr>
        <p:spPr>
          <a:xfrm>
            <a:off x="336851" y="3145076"/>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3.	</a:t>
            </a:r>
            <a:r>
              <a:rPr b="1" lang="en" sz="1700">
                <a:solidFill>
                  <a:srgbClr val="434343"/>
                </a:solidFill>
                <a:latin typeface="Cambria"/>
                <a:ea typeface="Cambria"/>
                <a:cs typeface="Cambria"/>
                <a:sym typeface="Cambria"/>
              </a:rPr>
              <a:t>Revenue Is Event-Led</a:t>
            </a:r>
            <a:r>
              <a:rPr b="1" lang="en" sz="1700">
                <a:solidFill>
                  <a:srgbClr val="434343"/>
                </a:solidFill>
                <a:latin typeface="Cambria"/>
                <a:ea typeface="Cambria"/>
                <a:cs typeface="Cambria"/>
                <a:sym typeface="Cambria"/>
              </a:rPr>
              <a:t>:</a:t>
            </a:r>
            <a:endParaRPr sz="1700">
              <a:solidFill>
                <a:srgbClr val="434343"/>
              </a:solidFill>
              <a:latin typeface="Cambria"/>
              <a:ea typeface="Cambria"/>
              <a:cs typeface="Cambria"/>
              <a:sym typeface="Cambria"/>
            </a:endParaRPr>
          </a:p>
        </p:txBody>
      </p:sp>
      <p:sp>
        <p:nvSpPr>
          <p:cNvPr id="76" name="Google Shape;76;p14"/>
          <p:cNvSpPr txBox="1"/>
          <p:nvPr/>
        </p:nvSpPr>
        <p:spPr>
          <a:xfrm>
            <a:off x="-470363" y="3545015"/>
            <a:ext cx="21141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3200">
                <a:solidFill>
                  <a:srgbClr val="434343"/>
                </a:solidFill>
                <a:latin typeface="Cambria"/>
                <a:ea typeface="Cambria"/>
                <a:cs typeface="Cambria"/>
                <a:sym typeface="Cambria"/>
              </a:rPr>
              <a:t> </a:t>
            </a:r>
            <a:endParaRPr b="1" sz="3200">
              <a:solidFill>
                <a:srgbClr val="434343"/>
              </a:solidFill>
            </a:endParaRPr>
          </a:p>
        </p:txBody>
      </p:sp>
      <p:sp>
        <p:nvSpPr>
          <p:cNvPr id="77" name="Google Shape;77;p14"/>
          <p:cNvSpPr txBox="1"/>
          <p:nvPr/>
        </p:nvSpPr>
        <p:spPr>
          <a:xfrm>
            <a:off x="1519801" y="3496351"/>
            <a:ext cx="28236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S</a:t>
            </a:r>
            <a:r>
              <a:rPr lang="en">
                <a:solidFill>
                  <a:srgbClr val="434343"/>
                </a:solidFill>
                <a:latin typeface="Cambria"/>
                <a:ea typeface="Cambria"/>
                <a:cs typeface="Cambria"/>
                <a:sym typeface="Cambria"/>
              </a:rPr>
              <a:t>ales spikes are driven by calendar moments (Black Friday, Q4), not discount depth.</a:t>
            </a:r>
            <a:endParaRPr>
              <a:solidFill>
                <a:srgbClr val="434343"/>
              </a:solidFill>
            </a:endParaRPr>
          </a:p>
        </p:txBody>
      </p:sp>
      <p:pic>
        <p:nvPicPr>
          <p:cNvPr descr="Calendar vector illustration, filled style icon editable outline (von Getty Images)" id="78" name="Google Shape;78;p14"/>
          <p:cNvPicPr preferRelativeResize="0"/>
          <p:nvPr/>
        </p:nvPicPr>
        <p:blipFill>
          <a:blip r:embed="rId3">
            <a:alphaModFix/>
          </a:blip>
          <a:stretch>
            <a:fillRect/>
          </a:stretch>
        </p:blipFill>
        <p:spPr>
          <a:xfrm>
            <a:off x="5008825" y="3570950"/>
            <a:ext cx="746598" cy="746598"/>
          </a:xfrm>
          <a:prstGeom prst="rect">
            <a:avLst/>
          </a:prstGeom>
          <a:noFill/>
          <a:ln>
            <a:noFill/>
          </a:ln>
        </p:spPr>
      </p:pic>
      <p:pic>
        <p:nvPicPr>
          <p:cNvPr descr="Stand with text Black Friday solid icon, Black Friday concept, sales text on street board sign on white background, big sale on stand board icon in glyph style for mobile. Vector graphics. (von Getty Images)" id="79" name="Google Shape;79;p14"/>
          <p:cNvPicPr preferRelativeResize="0"/>
          <p:nvPr/>
        </p:nvPicPr>
        <p:blipFill>
          <a:blip r:embed="rId4">
            <a:alphaModFix/>
          </a:blip>
          <a:stretch>
            <a:fillRect/>
          </a:stretch>
        </p:blipFill>
        <p:spPr>
          <a:xfrm>
            <a:off x="593425" y="3570950"/>
            <a:ext cx="746598" cy="7465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0" y="0"/>
            <a:ext cx="37860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089425" y="1383975"/>
            <a:ext cx="3026400" cy="3193800"/>
          </a:xfrm>
          <a:prstGeom prst="roundRect">
            <a:avLst>
              <a:gd fmla="val 364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4177563" y="344151"/>
            <a:ext cx="4620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434343"/>
                </a:solidFill>
                <a:latin typeface="Cambria"/>
                <a:ea typeface="Cambria"/>
                <a:cs typeface="Cambria"/>
                <a:sym typeface="Cambria"/>
              </a:rPr>
              <a:t>93% of all items were sold at a discount, with an average discount depth of 21%.</a:t>
            </a:r>
            <a:endParaRPr b="1" sz="1800">
              <a:solidFill>
                <a:srgbClr val="434343"/>
              </a:solidFill>
              <a:latin typeface="Cambria"/>
              <a:ea typeface="Cambria"/>
              <a:cs typeface="Cambria"/>
              <a:sym typeface="Cambria"/>
            </a:endParaRPr>
          </a:p>
        </p:txBody>
      </p:sp>
      <p:sp>
        <p:nvSpPr>
          <p:cNvPr id="87" name="Google Shape;87;p15"/>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grpSp>
        <p:nvGrpSpPr>
          <p:cNvPr id="88" name="Google Shape;88;p15"/>
          <p:cNvGrpSpPr/>
          <p:nvPr/>
        </p:nvGrpSpPr>
        <p:grpSpPr>
          <a:xfrm>
            <a:off x="1456745" y="1422394"/>
            <a:ext cx="2162701" cy="837688"/>
            <a:chOff x="1456745" y="1523247"/>
            <a:chExt cx="2162701" cy="837688"/>
          </a:xfrm>
        </p:grpSpPr>
        <p:sp>
          <p:nvSpPr>
            <p:cNvPr id="89" name="Google Shape;89;p15"/>
            <p:cNvSpPr txBox="1"/>
            <p:nvPr/>
          </p:nvSpPr>
          <p:spPr>
            <a:xfrm>
              <a:off x="1456745" y="1523247"/>
              <a:ext cx="170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Total Brands </a:t>
              </a:r>
              <a:endParaRPr b="1" sz="1800">
                <a:solidFill>
                  <a:srgbClr val="434343"/>
                </a:solidFill>
                <a:latin typeface="Cambria"/>
                <a:ea typeface="Cambria"/>
                <a:cs typeface="Cambria"/>
                <a:sym typeface="Cambria"/>
              </a:endParaRPr>
            </a:p>
          </p:txBody>
        </p:sp>
        <p:sp>
          <p:nvSpPr>
            <p:cNvPr id="90" name="Google Shape;90;p15"/>
            <p:cNvSpPr txBox="1"/>
            <p:nvPr/>
          </p:nvSpPr>
          <p:spPr>
            <a:xfrm>
              <a:off x="1456746" y="1812235"/>
              <a:ext cx="21627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Representing the full portfolio of brands sold by Eniac</a:t>
              </a:r>
              <a:endParaRPr sz="1100">
                <a:solidFill>
                  <a:srgbClr val="434343"/>
                </a:solidFill>
                <a:latin typeface="Cambria"/>
                <a:ea typeface="Cambria"/>
                <a:cs typeface="Cambria"/>
                <a:sym typeface="Cambria"/>
              </a:endParaRPr>
            </a:p>
          </p:txBody>
        </p:sp>
      </p:grpSp>
      <p:sp>
        <p:nvSpPr>
          <p:cNvPr id="91" name="Google Shape;91;p15"/>
          <p:cNvSpPr txBox="1"/>
          <p:nvPr/>
        </p:nvSpPr>
        <p:spPr>
          <a:xfrm>
            <a:off x="219491" y="1416774"/>
            <a:ext cx="1136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179</a:t>
            </a:r>
            <a:endParaRPr b="1" sz="2800">
              <a:solidFill>
                <a:srgbClr val="434343"/>
              </a:solidFill>
              <a:latin typeface="Cambria"/>
              <a:ea typeface="Cambria"/>
              <a:cs typeface="Cambria"/>
              <a:sym typeface="Cambria"/>
            </a:endParaRPr>
          </a:p>
        </p:txBody>
      </p:sp>
      <p:sp>
        <p:nvSpPr>
          <p:cNvPr id="92" name="Google Shape;92;p15"/>
          <p:cNvSpPr txBox="1"/>
          <p:nvPr/>
        </p:nvSpPr>
        <p:spPr>
          <a:xfrm>
            <a:off x="219490" y="2558250"/>
            <a:ext cx="1136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46.6k</a:t>
            </a:r>
            <a:endParaRPr b="1" sz="2800">
              <a:solidFill>
                <a:srgbClr val="434343"/>
              </a:solidFill>
              <a:latin typeface="Cambria"/>
              <a:ea typeface="Cambria"/>
              <a:cs typeface="Cambria"/>
              <a:sym typeface="Cambria"/>
            </a:endParaRPr>
          </a:p>
        </p:txBody>
      </p:sp>
      <p:sp>
        <p:nvSpPr>
          <p:cNvPr id="93" name="Google Shape;93;p15"/>
          <p:cNvSpPr txBox="1"/>
          <p:nvPr/>
        </p:nvSpPr>
        <p:spPr>
          <a:xfrm>
            <a:off x="-168091" y="3681141"/>
            <a:ext cx="15576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12.9M</a:t>
            </a:r>
            <a:endParaRPr b="1" sz="2800">
              <a:solidFill>
                <a:srgbClr val="434343"/>
              </a:solidFill>
              <a:latin typeface="Cambria"/>
              <a:ea typeface="Cambria"/>
              <a:cs typeface="Cambria"/>
              <a:sym typeface="Cambria"/>
            </a:endParaRPr>
          </a:p>
        </p:txBody>
      </p:sp>
      <p:grpSp>
        <p:nvGrpSpPr>
          <p:cNvPr id="94" name="Google Shape;94;p15"/>
          <p:cNvGrpSpPr/>
          <p:nvPr/>
        </p:nvGrpSpPr>
        <p:grpSpPr>
          <a:xfrm>
            <a:off x="1456741" y="2524579"/>
            <a:ext cx="2103600" cy="855901"/>
            <a:chOff x="1456741" y="2692667"/>
            <a:chExt cx="2103600" cy="855901"/>
          </a:xfrm>
        </p:grpSpPr>
        <p:sp>
          <p:nvSpPr>
            <p:cNvPr id="95" name="Google Shape;95;p15"/>
            <p:cNvSpPr txBox="1"/>
            <p:nvPr/>
          </p:nvSpPr>
          <p:spPr>
            <a:xfrm>
              <a:off x="1456741" y="2692667"/>
              <a:ext cx="2103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800">
                  <a:solidFill>
                    <a:srgbClr val="434343"/>
                  </a:solidFill>
                  <a:latin typeface="Cambria"/>
                  <a:ea typeface="Cambria"/>
                  <a:cs typeface="Cambria"/>
                  <a:sym typeface="Cambria"/>
                </a:rPr>
                <a:t>Completed Orders</a:t>
              </a:r>
              <a:endParaRPr b="1" sz="1800">
                <a:solidFill>
                  <a:srgbClr val="434343"/>
                </a:solidFill>
                <a:latin typeface="Cambria"/>
                <a:ea typeface="Cambria"/>
                <a:cs typeface="Cambria"/>
                <a:sym typeface="Cambria"/>
              </a:endParaRPr>
            </a:p>
          </p:txBody>
        </p:sp>
        <p:sp>
          <p:nvSpPr>
            <p:cNvPr id="96" name="Google Shape;96;p15"/>
            <p:cNvSpPr txBox="1"/>
            <p:nvPr/>
          </p:nvSpPr>
          <p:spPr>
            <a:xfrm>
              <a:off x="1456744" y="2999868"/>
              <a:ext cx="198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Total number of successfully processed transactions</a:t>
              </a:r>
              <a:endParaRPr sz="1100">
                <a:solidFill>
                  <a:srgbClr val="434343"/>
                </a:solidFill>
                <a:latin typeface="Cambria"/>
                <a:ea typeface="Cambria"/>
                <a:cs typeface="Cambria"/>
                <a:sym typeface="Cambria"/>
              </a:endParaRPr>
            </a:p>
          </p:txBody>
        </p:sp>
      </p:grpSp>
      <p:grpSp>
        <p:nvGrpSpPr>
          <p:cNvPr id="97" name="Google Shape;97;p15"/>
          <p:cNvGrpSpPr/>
          <p:nvPr/>
        </p:nvGrpSpPr>
        <p:grpSpPr>
          <a:xfrm>
            <a:off x="1449509" y="3682793"/>
            <a:ext cx="1983600" cy="813790"/>
            <a:chOff x="1449509" y="3850881"/>
            <a:chExt cx="1983600" cy="813790"/>
          </a:xfrm>
        </p:grpSpPr>
        <p:sp>
          <p:nvSpPr>
            <p:cNvPr id="98" name="Google Shape;98;p15"/>
            <p:cNvSpPr txBox="1"/>
            <p:nvPr/>
          </p:nvSpPr>
          <p:spPr>
            <a:xfrm>
              <a:off x="1456739" y="3850881"/>
              <a:ext cx="1700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800">
                  <a:solidFill>
                    <a:srgbClr val="434343"/>
                  </a:solidFill>
                  <a:latin typeface="Cambria"/>
                  <a:ea typeface="Cambria"/>
                  <a:cs typeface="Cambria"/>
                  <a:sym typeface="Cambria"/>
                </a:rPr>
                <a:t>Total Revenue</a:t>
              </a:r>
              <a:endParaRPr b="1" sz="1800">
                <a:solidFill>
                  <a:srgbClr val="434343"/>
                </a:solidFill>
                <a:latin typeface="Cambria"/>
                <a:ea typeface="Cambria"/>
                <a:cs typeface="Cambria"/>
                <a:sym typeface="Cambria"/>
              </a:endParaRPr>
            </a:p>
          </p:txBody>
        </p:sp>
        <p:sp>
          <p:nvSpPr>
            <p:cNvPr id="99" name="Google Shape;99;p15"/>
            <p:cNvSpPr txBox="1"/>
            <p:nvPr/>
          </p:nvSpPr>
          <p:spPr>
            <a:xfrm>
              <a:off x="1449509" y="4115971"/>
              <a:ext cx="198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Gross sales generated during the analyzed period</a:t>
              </a:r>
              <a:endParaRPr sz="1100">
                <a:solidFill>
                  <a:srgbClr val="434343"/>
                </a:solidFill>
                <a:latin typeface="Cambria"/>
                <a:ea typeface="Cambria"/>
                <a:cs typeface="Cambria"/>
                <a:sym typeface="Cambria"/>
              </a:endParaRPr>
            </a:p>
          </p:txBody>
        </p:sp>
      </p:grpSp>
      <p:grpSp>
        <p:nvGrpSpPr>
          <p:cNvPr id="100" name="Google Shape;100;p15"/>
          <p:cNvGrpSpPr/>
          <p:nvPr/>
        </p:nvGrpSpPr>
        <p:grpSpPr>
          <a:xfrm>
            <a:off x="223152" y="375850"/>
            <a:ext cx="3362100" cy="665307"/>
            <a:chOff x="223152" y="375850"/>
            <a:chExt cx="3362100" cy="665307"/>
          </a:xfrm>
        </p:grpSpPr>
        <p:sp>
          <p:nvSpPr>
            <p:cNvPr id="101" name="Google Shape;101;p15"/>
            <p:cNvSpPr txBox="1"/>
            <p:nvPr/>
          </p:nvSpPr>
          <p:spPr>
            <a:xfrm>
              <a:off x="223152" y="375850"/>
              <a:ext cx="336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Eniac Performance Overview</a:t>
              </a:r>
              <a:endParaRPr b="1" sz="1800">
                <a:solidFill>
                  <a:srgbClr val="434343"/>
                </a:solidFill>
                <a:latin typeface="Cambria"/>
                <a:ea typeface="Cambria"/>
                <a:cs typeface="Cambria"/>
                <a:sym typeface="Cambria"/>
              </a:endParaRPr>
            </a:p>
          </p:txBody>
        </p:sp>
        <p:sp>
          <p:nvSpPr>
            <p:cNvPr id="102" name="Google Shape;102;p15"/>
            <p:cNvSpPr txBox="1"/>
            <p:nvPr/>
          </p:nvSpPr>
          <p:spPr>
            <a:xfrm>
              <a:off x="903176" y="687157"/>
              <a:ext cx="198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Analysis Period: 2017 – 2018</a:t>
              </a:r>
              <a:endParaRPr sz="1100">
                <a:solidFill>
                  <a:srgbClr val="434343"/>
                </a:solidFill>
                <a:latin typeface="Cambria"/>
                <a:ea typeface="Cambria"/>
                <a:cs typeface="Cambria"/>
                <a:sym typeface="Cambria"/>
              </a:endParaRPr>
            </a:p>
          </p:txBody>
        </p:sp>
      </p:grpSp>
      <p:pic>
        <p:nvPicPr>
          <p:cNvPr id="103" name="Google Shape;103;p15"/>
          <p:cNvPicPr preferRelativeResize="0"/>
          <p:nvPr/>
        </p:nvPicPr>
        <p:blipFill>
          <a:blip r:embed="rId3">
            <a:alphaModFix/>
          </a:blip>
          <a:stretch>
            <a:fillRect/>
          </a:stretch>
        </p:blipFill>
        <p:spPr>
          <a:xfrm>
            <a:off x="8089846" y="4793165"/>
            <a:ext cx="930875" cy="245400"/>
          </a:xfrm>
          <a:prstGeom prst="rect">
            <a:avLst/>
          </a:prstGeom>
          <a:noFill/>
          <a:ln>
            <a:noFill/>
          </a:ln>
        </p:spPr>
      </p:pic>
      <p:pic>
        <p:nvPicPr>
          <p:cNvPr id="104" name="Google Shape;104;p15"/>
          <p:cNvPicPr preferRelativeResize="0"/>
          <p:nvPr/>
        </p:nvPicPr>
        <p:blipFill>
          <a:blip r:embed="rId4">
            <a:alphaModFix/>
          </a:blip>
          <a:stretch>
            <a:fillRect/>
          </a:stretch>
        </p:blipFill>
        <p:spPr>
          <a:xfrm>
            <a:off x="5127240" y="1483613"/>
            <a:ext cx="3026374" cy="301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Low discount levels dominate, while high discounts are uncommon</a:t>
            </a:r>
            <a:endParaRPr b="1" sz="1800">
              <a:solidFill>
                <a:srgbClr val="434343"/>
              </a:solidFill>
              <a:latin typeface="Cambria"/>
              <a:ea typeface="Cambria"/>
              <a:cs typeface="Cambria"/>
              <a:sym typeface="Cambria"/>
            </a:endParaRPr>
          </a:p>
        </p:txBody>
      </p:sp>
      <p:sp>
        <p:nvSpPr>
          <p:cNvPr id="110" name="Google Shape;110;p16"/>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11" name="Google Shape;111;p16"/>
          <p:cNvPicPr preferRelativeResize="0"/>
          <p:nvPr/>
        </p:nvPicPr>
        <p:blipFill>
          <a:blip r:embed="rId3">
            <a:alphaModFix/>
          </a:blip>
          <a:stretch>
            <a:fillRect/>
          </a:stretch>
        </p:blipFill>
        <p:spPr>
          <a:xfrm>
            <a:off x="8089846" y="4793165"/>
            <a:ext cx="930875" cy="245400"/>
          </a:xfrm>
          <a:prstGeom prst="rect">
            <a:avLst/>
          </a:prstGeom>
          <a:noFill/>
          <a:ln>
            <a:noFill/>
          </a:ln>
        </p:spPr>
      </p:pic>
      <p:grpSp>
        <p:nvGrpSpPr>
          <p:cNvPr id="112" name="Google Shape;112;p16"/>
          <p:cNvGrpSpPr/>
          <p:nvPr/>
        </p:nvGrpSpPr>
        <p:grpSpPr>
          <a:xfrm>
            <a:off x="313576" y="1136109"/>
            <a:ext cx="5830038" cy="3597498"/>
            <a:chOff x="257050" y="1026500"/>
            <a:chExt cx="6189000" cy="3819000"/>
          </a:xfrm>
        </p:grpSpPr>
        <p:sp>
          <p:nvSpPr>
            <p:cNvPr id="113" name="Google Shape;113;p16"/>
            <p:cNvSpPr/>
            <p:nvPr/>
          </p:nvSpPr>
          <p:spPr>
            <a:xfrm>
              <a:off x="388500" y="1179025"/>
              <a:ext cx="5342700" cy="3528000"/>
            </a:xfrm>
            <a:prstGeom prst="roundRect">
              <a:avLst>
                <a:gd fmla="val 3647" name="adj"/>
              </a:avLst>
            </a:prstGeom>
            <a:solidFill>
              <a:schemeClr val="lt1"/>
            </a:solidFill>
            <a:ln cap="flat" cmpd="sng" w="8425">
              <a:solidFill>
                <a:schemeClr val="lt1"/>
              </a:solidFill>
              <a:prstDash val="solid"/>
              <a:round/>
              <a:headEnd len="sm" w="sm" type="none"/>
              <a:tailEnd len="sm" w="sm" type="none"/>
            </a:ln>
          </p:spPr>
          <p:txBody>
            <a:bodyPr anchorCtr="0" anchor="ctr" bIns="80750" lIns="80750" spcFirstLastPara="1" rIns="80750" wrap="square" tIns="80750">
              <a:noAutofit/>
            </a:bodyPr>
            <a:lstStyle/>
            <a:p>
              <a:pPr indent="0" lvl="0" marL="0" rtl="0" algn="ctr">
                <a:spcBef>
                  <a:spcPts val="0"/>
                </a:spcBef>
                <a:spcAft>
                  <a:spcPts val="0"/>
                </a:spcAft>
                <a:buNone/>
              </a:pPr>
              <a:r>
                <a:t/>
              </a:r>
              <a:endParaRPr sz="1236"/>
            </a:p>
          </p:txBody>
        </p:sp>
        <p:sp>
          <p:nvSpPr>
            <p:cNvPr id="114" name="Google Shape;114;p16"/>
            <p:cNvSpPr/>
            <p:nvPr/>
          </p:nvSpPr>
          <p:spPr>
            <a:xfrm>
              <a:off x="257050" y="1026500"/>
              <a:ext cx="6189000" cy="3819000"/>
            </a:xfrm>
            <a:prstGeom prst="roundRect">
              <a:avLst>
                <a:gd fmla="val 3647" name="adj"/>
              </a:avLst>
            </a:prstGeom>
            <a:solidFill>
              <a:schemeClr val="lt1"/>
            </a:solidFill>
            <a:ln cap="flat" cmpd="sng" w="8675">
              <a:solidFill>
                <a:schemeClr val="lt1"/>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3"/>
            </a:p>
          </p:txBody>
        </p:sp>
        <p:pic>
          <p:nvPicPr>
            <p:cNvPr id="115" name="Google Shape;115;p16" title="discount_plot-4.png"/>
            <p:cNvPicPr preferRelativeResize="0"/>
            <p:nvPr/>
          </p:nvPicPr>
          <p:blipFill rotWithShape="1">
            <a:blip r:embed="rId4">
              <a:alphaModFix/>
            </a:blip>
            <a:srcRect b="0" l="2624" r="2964" t="0"/>
            <a:stretch/>
          </p:blipFill>
          <p:spPr>
            <a:xfrm>
              <a:off x="302520" y="1080975"/>
              <a:ext cx="6143406" cy="3691500"/>
            </a:xfrm>
            <a:prstGeom prst="rect">
              <a:avLst/>
            </a:prstGeom>
            <a:solidFill>
              <a:schemeClr val="lt1"/>
            </a:solidFill>
            <a:ln cap="flat" cmpd="sng" w="8725">
              <a:solidFill>
                <a:schemeClr val="lt1"/>
              </a:solidFill>
              <a:prstDash val="solid"/>
              <a:round/>
              <a:headEnd len="sm" w="sm" type="none"/>
              <a:tailEnd len="sm" w="sm" type="none"/>
            </a:ln>
          </p:spPr>
        </p:pic>
      </p:grpSp>
      <p:sp>
        <p:nvSpPr>
          <p:cNvPr id="116" name="Google Shape;116;p16"/>
          <p:cNvSpPr txBox="1"/>
          <p:nvPr/>
        </p:nvSpPr>
        <p:spPr>
          <a:xfrm>
            <a:off x="6165912" y="1202375"/>
            <a:ext cx="2736900" cy="2391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chemeClr val="dk1"/>
              </a:buClr>
              <a:buSzPts val="1400"/>
              <a:buChar char="●"/>
            </a:pPr>
            <a:r>
              <a:rPr lang="en">
                <a:solidFill>
                  <a:schemeClr val="dk1"/>
                </a:solidFill>
              </a:rPr>
              <a:t>Healthy Discounting: Most clusters below 20%</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Rare Extremes: Discounts &gt;30% form a thin long tail</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Risk: High-discount promotions are exceptional and pose margin risks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22" name="Google Shape;122;p17"/>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23" name="Google Shape;123;p17"/>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Pricing power stays with core products while accessories drive demand</a:t>
            </a:r>
            <a:endParaRPr b="1" sz="1800">
              <a:solidFill>
                <a:srgbClr val="434343"/>
              </a:solidFill>
              <a:latin typeface="Cambria"/>
              <a:ea typeface="Cambria"/>
              <a:cs typeface="Cambria"/>
              <a:sym typeface="Cambria"/>
            </a:endParaRPr>
          </a:p>
        </p:txBody>
      </p:sp>
      <p:sp>
        <p:nvSpPr>
          <p:cNvPr id="124" name="Google Shape;124;p17"/>
          <p:cNvSpPr txBox="1"/>
          <p:nvPr/>
        </p:nvSpPr>
        <p:spPr>
          <a:xfrm>
            <a:off x="5899675" y="1207110"/>
            <a:ext cx="3216300" cy="2596200"/>
          </a:xfrm>
          <a:prstGeom prst="rect">
            <a:avLst/>
          </a:prstGeom>
          <a:noFill/>
          <a:ln>
            <a:noFill/>
          </a:ln>
        </p:spPr>
        <p:txBody>
          <a:bodyPr anchorCtr="0" anchor="t" bIns="91425" lIns="0" spcFirstLastPara="1" rIns="0" wrap="square" tIns="91425">
            <a:spAutoFit/>
          </a:bodyPr>
          <a:lstStyle/>
          <a:p>
            <a:pPr indent="-317500" lvl="0" marL="457200" rtl="0" algn="l">
              <a:spcBef>
                <a:spcPts val="1000"/>
              </a:spcBef>
              <a:spcAft>
                <a:spcPts val="0"/>
              </a:spcAft>
              <a:buClr>
                <a:schemeClr val="dk1"/>
              </a:buClr>
              <a:buSzPts val="1400"/>
              <a:buFont typeface="Cambria"/>
              <a:buChar char="●"/>
            </a:pPr>
            <a:r>
              <a:rPr b="1" lang="en">
                <a:solidFill>
                  <a:schemeClr val="dk1"/>
                </a:solidFill>
                <a:latin typeface="Cambria"/>
                <a:ea typeface="Cambria"/>
                <a:cs typeface="Cambria"/>
                <a:sym typeface="Cambria"/>
              </a:rPr>
              <a:t>Accessories </a:t>
            </a:r>
            <a:r>
              <a:rPr lang="en">
                <a:solidFill>
                  <a:schemeClr val="dk1"/>
                </a:solidFill>
                <a:latin typeface="Cambria"/>
                <a:ea typeface="Cambria"/>
                <a:cs typeface="Cambria"/>
                <a:sym typeface="Cambria"/>
              </a:rPr>
              <a:t>show the widest discount spread (up to ~80%), indicating aggressive pricing for traffic acquisition and upselling.</a:t>
            </a:r>
            <a:endParaRPr>
              <a:solidFill>
                <a:schemeClr val="dk1"/>
              </a:solidFill>
              <a:latin typeface="Cambria"/>
              <a:ea typeface="Cambria"/>
              <a:cs typeface="Cambria"/>
              <a:sym typeface="Cambria"/>
            </a:endParaRPr>
          </a:p>
          <a:p>
            <a:pPr indent="0" lvl="0" marL="457200" rtl="0" algn="l">
              <a:spcBef>
                <a:spcPts val="1000"/>
              </a:spcBef>
              <a:spcAft>
                <a:spcPts val="0"/>
              </a:spcAft>
              <a:buNone/>
            </a:pPr>
            <a:r>
              <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b="1" lang="en">
                <a:solidFill>
                  <a:schemeClr val="dk1"/>
                </a:solidFill>
                <a:latin typeface="Cambria"/>
                <a:ea typeface="Cambria"/>
                <a:cs typeface="Cambria"/>
                <a:sym typeface="Cambria"/>
              </a:rPr>
              <a:t>Smartphones </a:t>
            </a:r>
            <a:r>
              <a:rPr lang="en">
                <a:solidFill>
                  <a:schemeClr val="dk1"/>
                </a:solidFill>
                <a:latin typeface="Cambria"/>
                <a:ea typeface="Cambria"/>
                <a:cs typeface="Cambria"/>
                <a:sym typeface="Cambria"/>
              </a:rPr>
              <a:t>have minimal discounts (median ~5%), acting as premium anchor products with strong turnover even at near-full price.</a:t>
            </a:r>
            <a:endParaRPr>
              <a:solidFill>
                <a:schemeClr val="dk1"/>
              </a:solidFill>
              <a:latin typeface="Cambria"/>
              <a:ea typeface="Cambria"/>
              <a:cs typeface="Cambria"/>
              <a:sym typeface="Cambria"/>
            </a:endParaRPr>
          </a:p>
        </p:txBody>
      </p:sp>
      <p:sp>
        <p:nvSpPr>
          <p:cNvPr id="125" name="Google Shape;125;p17"/>
          <p:cNvSpPr/>
          <p:nvPr/>
        </p:nvSpPr>
        <p:spPr>
          <a:xfrm>
            <a:off x="356375" y="1207098"/>
            <a:ext cx="5412600" cy="3398700"/>
          </a:xfrm>
          <a:prstGeom prst="roundRect">
            <a:avLst>
              <a:gd fmla="val 3647" name="adj"/>
            </a:avLst>
          </a:prstGeom>
          <a:solidFill>
            <a:schemeClr val="lt1"/>
          </a:solidFill>
          <a:ln cap="flat" cmpd="sng" w="9200">
            <a:solidFill>
              <a:schemeClr val="lt1"/>
            </a:solidFill>
            <a:prstDash val="solid"/>
            <a:round/>
            <a:headEnd len="sm" w="sm" type="none"/>
            <a:tailEnd len="sm" w="sm" type="none"/>
          </a:ln>
        </p:spPr>
        <p:txBody>
          <a:bodyPr anchorCtr="0" anchor="ctr" bIns="88300" lIns="88300" spcFirstLastPara="1" rIns="88300" wrap="square" tIns="88300">
            <a:noAutofit/>
          </a:bodyPr>
          <a:lstStyle/>
          <a:p>
            <a:pPr indent="0" lvl="0" marL="0" rtl="0" algn="ctr">
              <a:spcBef>
                <a:spcPts val="0"/>
              </a:spcBef>
              <a:spcAft>
                <a:spcPts val="0"/>
              </a:spcAft>
              <a:buNone/>
            </a:pPr>
            <a:r>
              <a:t/>
            </a:r>
            <a:endParaRPr sz="1352"/>
          </a:p>
        </p:txBody>
      </p:sp>
      <p:pic>
        <p:nvPicPr>
          <p:cNvPr id="126" name="Google Shape;126;p17"/>
          <p:cNvPicPr preferRelativeResize="0"/>
          <p:nvPr/>
        </p:nvPicPr>
        <p:blipFill>
          <a:blip r:embed="rId4">
            <a:alphaModFix/>
          </a:blip>
          <a:stretch>
            <a:fillRect/>
          </a:stretch>
        </p:blipFill>
        <p:spPr>
          <a:xfrm>
            <a:off x="410125" y="1352463"/>
            <a:ext cx="5128126" cy="3107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Black Friday spike dominates annual sales, highlighting high seasonal dependency.</a:t>
            </a:r>
            <a:endParaRPr b="1" sz="1800">
              <a:solidFill>
                <a:srgbClr val="434343"/>
              </a:solidFill>
              <a:latin typeface="Cambria"/>
              <a:ea typeface="Cambria"/>
              <a:cs typeface="Cambria"/>
              <a:sym typeface="Cambria"/>
            </a:endParaRPr>
          </a:p>
        </p:txBody>
      </p:sp>
      <p:sp>
        <p:nvSpPr>
          <p:cNvPr id="132" name="Google Shape;132;p18"/>
          <p:cNvSpPr txBox="1"/>
          <p:nvPr/>
        </p:nvSpPr>
        <p:spPr>
          <a:xfrm>
            <a:off x="5955750" y="1257539"/>
            <a:ext cx="3065100" cy="1887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0"/>
              </a:spcAft>
              <a:buNone/>
            </a:pPr>
            <a:r>
              <a:rPr lang="en">
                <a:solidFill>
                  <a:schemeClr val="dk1"/>
                </a:solidFill>
              </a:rPr>
              <a:t>Off-season demand remains flat despite high discount levels.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Promotional resources should be concentrated on seasonal peaks rather than year-round discounting.</a:t>
            </a:r>
            <a:endParaRPr>
              <a:solidFill>
                <a:schemeClr val="dk1"/>
              </a:solidFill>
            </a:endParaRPr>
          </a:p>
          <a:p>
            <a:pPr indent="0" lvl="0" marL="0" rtl="0" algn="l">
              <a:spcBef>
                <a:spcPts val="0"/>
              </a:spcBef>
              <a:spcAft>
                <a:spcPts val="0"/>
              </a:spcAft>
              <a:buNone/>
            </a:pPr>
            <a:r>
              <a:t/>
            </a:r>
            <a:endParaRPr>
              <a:solidFill>
                <a:schemeClr val="dk1"/>
              </a:solidFill>
              <a:latin typeface="Cambria"/>
              <a:ea typeface="Cambria"/>
              <a:cs typeface="Cambria"/>
              <a:sym typeface="Cambria"/>
            </a:endParaRPr>
          </a:p>
        </p:txBody>
      </p:sp>
      <p:sp>
        <p:nvSpPr>
          <p:cNvPr id="133" name="Google Shape;133;p18"/>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34" name="Google Shape;134;p18"/>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35" name="Google Shape;135;p18"/>
          <p:cNvSpPr/>
          <p:nvPr/>
        </p:nvSpPr>
        <p:spPr>
          <a:xfrm>
            <a:off x="163250" y="1216394"/>
            <a:ext cx="5583000" cy="3183900"/>
          </a:xfrm>
          <a:prstGeom prst="roundRect">
            <a:avLst>
              <a:gd fmla="val 3647" name="adj"/>
            </a:avLst>
          </a:prstGeom>
          <a:solidFill>
            <a:schemeClr val="lt1"/>
          </a:solidFill>
          <a:ln cap="flat" cmpd="sng" w="8425">
            <a:solidFill>
              <a:schemeClr val="lt1"/>
            </a:solidFill>
            <a:prstDash val="solid"/>
            <a:round/>
            <a:headEnd len="sm" w="sm" type="none"/>
            <a:tailEnd len="sm" w="sm" type="none"/>
          </a:ln>
        </p:spPr>
        <p:txBody>
          <a:bodyPr anchorCtr="0" anchor="ctr" bIns="80850" lIns="80850" spcFirstLastPara="1" rIns="80850" wrap="square" tIns="80850">
            <a:noAutofit/>
          </a:bodyPr>
          <a:lstStyle/>
          <a:p>
            <a:pPr indent="0" lvl="0" marL="0" rtl="0" algn="ctr">
              <a:spcBef>
                <a:spcPts val="0"/>
              </a:spcBef>
              <a:spcAft>
                <a:spcPts val="0"/>
              </a:spcAft>
              <a:buNone/>
            </a:pPr>
            <a:r>
              <a:t/>
            </a:r>
            <a:endParaRPr sz="1238"/>
          </a:p>
        </p:txBody>
      </p:sp>
      <p:pic>
        <p:nvPicPr>
          <p:cNvPr id="136" name="Google Shape;136;p18" title="7d.png"/>
          <p:cNvPicPr preferRelativeResize="0"/>
          <p:nvPr/>
        </p:nvPicPr>
        <p:blipFill>
          <a:blip r:embed="rId4">
            <a:alphaModFix/>
          </a:blip>
          <a:stretch>
            <a:fillRect/>
          </a:stretch>
        </p:blipFill>
        <p:spPr>
          <a:xfrm>
            <a:off x="220566" y="1280468"/>
            <a:ext cx="5440568" cy="31198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Revenue growth stems from event timing rather than discount depth. Success lies in the tandem of seasonal demand and tactical discounting.</a:t>
            </a:r>
            <a:endParaRPr b="1" sz="1800">
              <a:solidFill>
                <a:srgbClr val="434343"/>
              </a:solidFill>
              <a:latin typeface="Cambria"/>
              <a:ea typeface="Cambria"/>
              <a:cs typeface="Cambria"/>
              <a:sym typeface="Cambria"/>
            </a:endParaRPr>
          </a:p>
        </p:txBody>
      </p:sp>
      <p:sp>
        <p:nvSpPr>
          <p:cNvPr id="142" name="Google Shape;142;p19"/>
          <p:cNvSpPr txBox="1"/>
          <p:nvPr/>
        </p:nvSpPr>
        <p:spPr>
          <a:xfrm>
            <a:off x="5838875" y="1344125"/>
            <a:ext cx="3047100" cy="2037000"/>
          </a:xfrm>
          <a:prstGeom prst="rect">
            <a:avLst/>
          </a:prstGeom>
          <a:noFill/>
          <a:ln>
            <a:noFill/>
          </a:ln>
        </p:spPr>
        <p:txBody>
          <a:bodyPr anchorCtr="0" anchor="t" bIns="91425" lIns="0" spcFirstLastPara="1" rIns="0" wrap="square" tIns="91425">
            <a:spAutoFit/>
          </a:bodyPr>
          <a:lstStyle/>
          <a:p>
            <a:pPr indent="0" lvl="0" marL="0" rtl="0" algn="l">
              <a:spcBef>
                <a:spcPts val="0"/>
              </a:spcBef>
              <a:spcAft>
                <a:spcPts val="0"/>
              </a:spcAft>
              <a:buNone/>
            </a:pPr>
            <a:r>
              <a:rPr lang="en">
                <a:solidFill>
                  <a:schemeClr val="dk1"/>
                </a:solidFill>
                <a:latin typeface="Cambria"/>
                <a:ea typeface="Cambria"/>
                <a:cs typeface="Cambria"/>
                <a:sym typeface="Cambria"/>
              </a:rPr>
              <a:t>Discounts act as </a:t>
            </a:r>
            <a:r>
              <a:rPr b="1" lang="en">
                <a:solidFill>
                  <a:schemeClr val="dk1"/>
                </a:solidFill>
                <a:latin typeface="Cambria"/>
                <a:ea typeface="Cambria"/>
                <a:cs typeface="Cambria"/>
                <a:sym typeface="Cambria"/>
              </a:rPr>
              <a:t>constant demand management</a:t>
            </a:r>
            <a:r>
              <a:rPr lang="en">
                <a:solidFill>
                  <a:schemeClr val="dk1"/>
                </a:solidFill>
                <a:latin typeface="Cambria"/>
                <a:ea typeface="Cambria"/>
                <a:cs typeface="Cambria"/>
                <a:sym typeface="Cambria"/>
              </a:rPr>
              <a:t>, peaking in effectiveness during Q4. </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b="1">
              <a:solidFill>
                <a:schemeClr val="dk1"/>
              </a:solidFill>
              <a:latin typeface="Cambria"/>
              <a:ea typeface="Cambria"/>
              <a:cs typeface="Cambria"/>
              <a:sym typeface="Cambria"/>
            </a:endParaRPr>
          </a:p>
          <a:p>
            <a:pPr indent="0" lvl="0" marL="0" rtl="0" algn="l">
              <a:spcBef>
                <a:spcPts val="0"/>
              </a:spcBef>
              <a:spcAft>
                <a:spcPts val="0"/>
              </a:spcAft>
              <a:buNone/>
            </a:pPr>
            <a:r>
              <a:rPr b="1" lang="en">
                <a:solidFill>
                  <a:schemeClr val="dk1"/>
                </a:solidFill>
                <a:latin typeface="Cambria"/>
                <a:ea typeface="Cambria"/>
                <a:cs typeface="Cambria"/>
                <a:sym typeface="Cambria"/>
              </a:rPr>
              <a:t>Recommendation:</a:t>
            </a: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l">
              <a:spcBef>
                <a:spcPts val="1000"/>
              </a:spcBef>
              <a:spcAft>
                <a:spcPts val="0"/>
              </a:spcAft>
              <a:buNone/>
            </a:pPr>
            <a:r>
              <a:rPr lang="en">
                <a:solidFill>
                  <a:schemeClr val="dk1"/>
                </a:solidFill>
                <a:latin typeface="Cambria"/>
                <a:ea typeface="Cambria"/>
                <a:cs typeface="Cambria"/>
                <a:sym typeface="Cambria"/>
              </a:rPr>
              <a:t>Lower off-peak discounting to </a:t>
            </a:r>
            <a:r>
              <a:rPr b="1" lang="en">
                <a:solidFill>
                  <a:schemeClr val="dk1"/>
                </a:solidFill>
                <a:latin typeface="Cambria"/>
                <a:ea typeface="Cambria"/>
                <a:cs typeface="Cambria"/>
                <a:sym typeface="Cambria"/>
              </a:rPr>
              <a:t>reclaim margin</a:t>
            </a:r>
            <a:r>
              <a:rPr lang="en">
                <a:solidFill>
                  <a:schemeClr val="dk1"/>
                </a:solidFill>
                <a:latin typeface="Cambria"/>
                <a:ea typeface="Cambria"/>
                <a:cs typeface="Cambria"/>
                <a:sym typeface="Cambria"/>
              </a:rPr>
              <a:t>, as daily volume is insensitive to price depth.</a:t>
            </a:r>
            <a:endParaRPr>
              <a:solidFill>
                <a:schemeClr val="dk1"/>
              </a:solidFill>
              <a:highlight>
                <a:schemeClr val="accent6"/>
              </a:highlight>
              <a:latin typeface="Cambria"/>
              <a:ea typeface="Cambria"/>
              <a:cs typeface="Cambria"/>
              <a:sym typeface="Cambria"/>
            </a:endParaRPr>
          </a:p>
        </p:txBody>
      </p:sp>
      <p:sp>
        <p:nvSpPr>
          <p:cNvPr id="143" name="Google Shape;143;p19"/>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44" name="Google Shape;144;p19"/>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45" name="Google Shape;145;p19"/>
          <p:cNvSpPr/>
          <p:nvPr/>
        </p:nvSpPr>
        <p:spPr>
          <a:xfrm>
            <a:off x="242776" y="1350450"/>
            <a:ext cx="5411100" cy="3318000"/>
          </a:xfrm>
          <a:prstGeom prst="roundRect">
            <a:avLst>
              <a:gd fmla="val 3647" name="adj"/>
            </a:avLst>
          </a:prstGeom>
          <a:solidFill>
            <a:schemeClr val="lt1"/>
          </a:solidFill>
          <a:ln cap="flat" cmpd="sng" w="8175">
            <a:solidFill>
              <a:schemeClr val="lt1"/>
            </a:solidFill>
            <a:prstDash val="solid"/>
            <a:round/>
            <a:headEnd len="sm" w="sm" type="none"/>
            <a:tailEnd len="sm" w="sm" type="none"/>
          </a:ln>
        </p:spPr>
        <p:txBody>
          <a:bodyPr anchorCtr="0" anchor="ctr" bIns="78350" lIns="78350" spcFirstLastPara="1" rIns="78350" wrap="square" tIns="78350">
            <a:noAutofit/>
          </a:bodyPr>
          <a:lstStyle/>
          <a:p>
            <a:pPr indent="0" lvl="0" marL="0" rtl="0" algn="ctr">
              <a:spcBef>
                <a:spcPts val="0"/>
              </a:spcBef>
              <a:spcAft>
                <a:spcPts val="0"/>
              </a:spcAft>
              <a:buNone/>
            </a:pPr>
            <a:r>
              <a:t/>
            </a:r>
            <a:endParaRPr sz="1199"/>
          </a:p>
        </p:txBody>
      </p:sp>
      <p:pic>
        <p:nvPicPr>
          <p:cNvPr id="146" name="Google Shape;146;p19" title="7_days.png"/>
          <p:cNvPicPr preferRelativeResize="0"/>
          <p:nvPr/>
        </p:nvPicPr>
        <p:blipFill>
          <a:blip r:embed="rId4">
            <a:alphaModFix/>
          </a:blip>
          <a:stretch>
            <a:fillRect/>
          </a:stretch>
        </p:blipFill>
        <p:spPr>
          <a:xfrm>
            <a:off x="302550" y="1350450"/>
            <a:ext cx="5237859" cy="3252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242825" y="1159638"/>
            <a:ext cx="5503500" cy="3465300"/>
          </a:xfrm>
          <a:prstGeom prst="roundRect">
            <a:avLst>
              <a:gd fmla="val 3647" name="adj"/>
            </a:avLst>
          </a:prstGeom>
          <a:solidFill>
            <a:schemeClr val="lt1"/>
          </a:solidFill>
          <a:ln cap="flat" cmpd="sng" w="9300">
            <a:solidFill>
              <a:schemeClr val="lt1"/>
            </a:solidFill>
            <a:prstDash val="solid"/>
            <a:round/>
            <a:headEnd len="sm" w="sm" type="none"/>
            <a:tailEnd len="sm" w="sm" type="none"/>
          </a:ln>
        </p:spPr>
        <p:txBody>
          <a:bodyPr anchorCtr="0" anchor="ctr" bIns="89075" lIns="89075" spcFirstLastPara="1" rIns="89075" wrap="square" tIns="89075">
            <a:noAutofit/>
          </a:bodyPr>
          <a:lstStyle/>
          <a:p>
            <a:pPr indent="0" lvl="0" marL="0" rtl="0" algn="ctr">
              <a:spcBef>
                <a:spcPts val="0"/>
              </a:spcBef>
              <a:spcAft>
                <a:spcPts val="0"/>
              </a:spcAft>
              <a:buNone/>
            </a:pPr>
            <a:r>
              <a:t/>
            </a:r>
            <a:endParaRPr sz="1364"/>
          </a:p>
        </p:txBody>
      </p:sp>
      <p:sp>
        <p:nvSpPr>
          <p:cNvPr id="152" name="Google Shape;152;p20"/>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Discounts drive volume primarily during high-seasonality peaks, while everyday correlation remains low.</a:t>
            </a:r>
            <a:endParaRPr b="1" sz="1800">
              <a:solidFill>
                <a:srgbClr val="434343"/>
              </a:solidFill>
              <a:latin typeface="Cambria"/>
              <a:ea typeface="Cambria"/>
              <a:cs typeface="Cambria"/>
              <a:sym typeface="Cambria"/>
            </a:endParaRPr>
          </a:p>
        </p:txBody>
      </p:sp>
      <p:sp>
        <p:nvSpPr>
          <p:cNvPr id="153" name="Google Shape;153;p20"/>
          <p:cNvSpPr txBox="1"/>
          <p:nvPr/>
        </p:nvSpPr>
        <p:spPr>
          <a:xfrm>
            <a:off x="5903400" y="1297177"/>
            <a:ext cx="2993700" cy="1174800"/>
          </a:xfrm>
          <a:prstGeom prst="rect">
            <a:avLst/>
          </a:prstGeom>
          <a:noFill/>
          <a:ln>
            <a:noFill/>
          </a:ln>
        </p:spPr>
        <p:txBody>
          <a:bodyPr anchorCtr="0" anchor="t" bIns="91425" lIns="0" spcFirstLastPara="1" rIns="0" wrap="square" tIns="91425">
            <a:spAutoFit/>
          </a:bodyPr>
          <a:lstStyle/>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Maximum revenue is achieved at </a:t>
            </a:r>
            <a:r>
              <a:rPr b="1" lang="en">
                <a:solidFill>
                  <a:schemeClr val="dk1"/>
                </a:solidFill>
                <a:latin typeface="Cambria"/>
                <a:ea typeface="Cambria"/>
                <a:cs typeface="Cambria"/>
                <a:sym typeface="Cambria"/>
              </a:rPr>
              <a:t>20-25%</a:t>
            </a:r>
            <a:r>
              <a:rPr lang="en">
                <a:solidFill>
                  <a:schemeClr val="dk1"/>
                </a:solidFill>
                <a:latin typeface="Cambria"/>
                <a:ea typeface="Cambria"/>
                <a:cs typeface="Cambria"/>
                <a:sym typeface="Cambria"/>
              </a:rPr>
              <a:t> discount depth. </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Going beyond 30% does not yield proportional growth.</a:t>
            </a:r>
            <a:endParaRPr>
              <a:solidFill>
                <a:schemeClr val="dk1"/>
              </a:solidFill>
              <a:latin typeface="Cambria"/>
              <a:ea typeface="Cambria"/>
              <a:cs typeface="Cambria"/>
              <a:sym typeface="Cambria"/>
            </a:endParaRPr>
          </a:p>
        </p:txBody>
      </p:sp>
      <p:sp>
        <p:nvSpPr>
          <p:cNvPr id="154" name="Google Shape;154;p20"/>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55" name="Google Shape;155;p20"/>
          <p:cNvPicPr preferRelativeResize="0"/>
          <p:nvPr/>
        </p:nvPicPr>
        <p:blipFill>
          <a:blip r:embed="rId3">
            <a:alphaModFix/>
          </a:blip>
          <a:stretch>
            <a:fillRect/>
          </a:stretch>
        </p:blipFill>
        <p:spPr>
          <a:xfrm>
            <a:off x="8089846" y="4793165"/>
            <a:ext cx="930875" cy="245400"/>
          </a:xfrm>
          <a:prstGeom prst="rect">
            <a:avLst/>
          </a:prstGeom>
          <a:noFill/>
          <a:ln>
            <a:noFill/>
          </a:ln>
        </p:spPr>
      </p:pic>
      <p:pic>
        <p:nvPicPr>
          <p:cNvPr id="156" name="Google Shape;156;p20" title="best_spot.png"/>
          <p:cNvPicPr preferRelativeResize="0"/>
          <p:nvPr/>
        </p:nvPicPr>
        <p:blipFill>
          <a:blip r:embed="rId4">
            <a:alphaModFix/>
          </a:blip>
          <a:stretch>
            <a:fillRect/>
          </a:stretch>
        </p:blipFill>
        <p:spPr>
          <a:xfrm>
            <a:off x="302550" y="1207672"/>
            <a:ext cx="5401751" cy="33450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Recommendations</a:t>
            </a:r>
            <a:endParaRPr b="1" sz="1800">
              <a:solidFill>
                <a:srgbClr val="434343"/>
              </a:solidFill>
              <a:latin typeface="Cambria"/>
              <a:ea typeface="Cambria"/>
              <a:cs typeface="Cambria"/>
              <a:sym typeface="Cambria"/>
            </a:endParaRPr>
          </a:p>
        </p:txBody>
      </p:sp>
      <p:sp>
        <p:nvSpPr>
          <p:cNvPr id="162" name="Google Shape;162;p21"/>
          <p:cNvSpPr txBox="1"/>
          <p:nvPr/>
        </p:nvSpPr>
        <p:spPr>
          <a:xfrm>
            <a:off x="423675" y="1981350"/>
            <a:ext cx="3919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latin typeface="Cambria"/>
              <a:ea typeface="Cambria"/>
              <a:cs typeface="Cambria"/>
              <a:sym typeface="Cambria"/>
            </a:endParaRPr>
          </a:p>
        </p:txBody>
      </p:sp>
      <p:sp>
        <p:nvSpPr>
          <p:cNvPr id="163" name="Google Shape;163;p21"/>
          <p:cNvSpPr txBox="1"/>
          <p:nvPr/>
        </p:nvSpPr>
        <p:spPr>
          <a:xfrm>
            <a:off x="458400" y="1136250"/>
            <a:ext cx="8327100" cy="3126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Event-Driven Strategy: </a:t>
            </a:r>
            <a:r>
              <a:rPr lang="en">
                <a:solidFill>
                  <a:srgbClr val="292929"/>
                </a:solidFill>
                <a:latin typeface="Cambria"/>
                <a:ea typeface="Cambria"/>
                <a:cs typeface="Cambria"/>
                <a:sym typeface="Cambria"/>
              </a:rPr>
              <a:t>Shift budget to high-seasonality events (Black Friday, Q4) where discounts are most effective.</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Reduce "Always-On" Discounts: </a:t>
            </a:r>
            <a:r>
              <a:rPr lang="en">
                <a:solidFill>
                  <a:srgbClr val="292929"/>
                </a:solidFill>
                <a:latin typeface="Cambria"/>
                <a:ea typeface="Cambria"/>
                <a:cs typeface="Cambria"/>
                <a:sym typeface="Cambria"/>
              </a:rPr>
              <a:t>Lower the 30% discount coverage during off-peak periods and concentrate on the 20-25 % range which has the highest revenue, to protect our profit margins.</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Tiered Approach: </a:t>
            </a:r>
            <a:r>
              <a:rPr lang="en">
                <a:solidFill>
                  <a:srgbClr val="292929"/>
                </a:solidFill>
                <a:latin typeface="Cambria"/>
                <a:ea typeface="Cambria"/>
                <a:cs typeface="Cambria"/>
                <a:sym typeface="Cambria"/>
              </a:rPr>
              <a:t>Maintain Smartphones as premium margin anchors (min. discounts) while using Accessories as the actual traffic magnets and upselling tools (aggressive discounts).</a:t>
            </a:r>
            <a:endParaRPr>
              <a:solidFill>
                <a:srgbClr val="292929"/>
              </a:solidFill>
              <a:latin typeface="Cambria"/>
              <a:ea typeface="Cambria"/>
              <a:cs typeface="Cambria"/>
              <a:sym typeface="Cambria"/>
            </a:endParaRPr>
          </a:p>
          <a:p>
            <a:pPr indent="0" lvl="0" marL="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High </a:t>
            </a:r>
            <a:r>
              <a:rPr b="1" lang="en">
                <a:solidFill>
                  <a:srgbClr val="292929"/>
                </a:solidFill>
                <a:latin typeface="Cambria"/>
                <a:ea typeface="Cambria"/>
                <a:cs typeface="Cambria"/>
                <a:sym typeface="Cambria"/>
              </a:rPr>
              <a:t>collaborative</a:t>
            </a:r>
            <a:r>
              <a:rPr b="1" lang="en">
                <a:solidFill>
                  <a:srgbClr val="292929"/>
                </a:solidFill>
                <a:latin typeface="Cambria"/>
                <a:ea typeface="Cambria"/>
                <a:cs typeface="Cambria"/>
                <a:sym typeface="Cambria"/>
              </a:rPr>
              <a:t> work with marketing:  Identify trends, ebbs and flows through the data with marketing to implement high impact discount </a:t>
            </a:r>
            <a:r>
              <a:rPr b="1" lang="en">
                <a:solidFill>
                  <a:srgbClr val="292929"/>
                </a:solidFill>
                <a:latin typeface="Cambria"/>
                <a:ea typeface="Cambria"/>
                <a:cs typeface="Cambria"/>
                <a:sym typeface="Cambria"/>
              </a:rPr>
              <a:t>strategies</a:t>
            </a:r>
            <a:r>
              <a:rPr b="1" lang="en">
                <a:solidFill>
                  <a:srgbClr val="292929"/>
                </a:solidFill>
                <a:latin typeface="Cambria"/>
                <a:ea typeface="Cambria"/>
                <a:cs typeface="Cambria"/>
                <a:sym typeface="Cambria"/>
              </a:rPr>
              <a:t>.</a:t>
            </a:r>
            <a:endParaRPr b="1">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nvSpPr>
        <p:spPr>
          <a:xfrm>
            <a:off x="3635775" y="2119450"/>
            <a:ext cx="25623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300">
                <a:solidFill>
                  <a:srgbClr val="292929"/>
                </a:solidFill>
                <a:latin typeface="Calibri"/>
                <a:ea typeface="Calibri"/>
                <a:cs typeface="Calibri"/>
                <a:sym typeface="Calibri"/>
              </a:rPr>
              <a:t>thank</a:t>
            </a:r>
            <a:r>
              <a:rPr b="1" lang="en" sz="3300">
                <a:latin typeface="Calibri"/>
                <a:ea typeface="Calibri"/>
                <a:cs typeface="Calibri"/>
                <a:sym typeface="Calibri"/>
              </a:rPr>
              <a:t> </a:t>
            </a:r>
            <a:r>
              <a:rPr b="1" lang="en" sz="3300">
                <a:solidFill>
                  <a:srgbClr val="F8485E"/>
                </a:solidFill>
                <a:latin typeface="Calibri"/>
                <a:ea typeface="Calibri"/>
                <a:cs typeface="Calibri"/>
                <a:sym typeface="Calibri"/>
              </a:rPr>
              <a:t>you</a:t>
            </a:r>
            <a:endParaRPr b="1" sz="3300">
              <a:solidFill>
                <a:srgbClr val="F8485E"/>
              </a:solidFill>
              <a:latin typeface="Calibri"/>
              <a:ea typeface="Calibri"/>
              <a:cs typeface="Calibri"/>
              <a:sym typeface="Calibri"/>
            </a:endParaRPr>
          </a:p>
        </p:txBody>
      </p:sp>
      <p:grpSp>
        <p:nvGrpSpPr>
          <p:cNvPr id="169" name="Google Shape;169;p22"/>
          <p:cNvGrpSpPr/>
          <p:nvPr/>
        </p:nvGrpSpPr>
        <p:grpSpPr>
          <a:xfrm>
            <a:off x="2945921" y="2127275"/>
            <a:ext cx="995700" cy="677060"/>
            <a:chOff x="527896" y="3044700"/>
            <a:chExt cx="995700" cy="677060"/>
          </a:xfrm>
        </p:grpSpPr>
        <p:sp>
          <p:nvSpPr>
            <p:cNvPr id="170" name="Google Shape;170;p22"/>
            <p:cNvSpPr/>
            <p:nvPr/>
          </p:nvSpPr>
          <p:spPr>
            <a:xfrm>
              <a:off x="527896" y="3050961"/>
              <a:ext cx="995700" cy="670800"/>
            </a:xfrm>
            <a:prstGeom prst="roundRect">
              <a:avLst>
                <a:gd fmla="val 2626" name="adj"/>
              </a:avLst>
            </a:prstGeom>
            <a:solidFill>
              <a:srgbClr val="CCCCCC"/>
            </a:solidFill>
            <a:ln>
              <a:noFill/>
            </a:ln>
          </p:spPr>
          <p:txBody>
            <a:bodyPr anchorCtr="0" anchor="ctr" bIns="93250" lIns="93250" spcFirstLastPara="1" rIns="93250" wrap="square" tIns="93250">
              <a:noAutofit/>
            </a:bodyPr>
            <a:lstStyle/>
            <a:p>
              <a:pPr indent="0" lvl="0" marL="0" rtl="0" algn="ctr">
                <a:spcBef>
                  <a:spcPts val="0"/>
                </a:spcBef>
                <a:spcAft>
                  <a:spcPts val="0"/>
                </a:spcAft>
                <a:buNone/>
              </a:pPr>
              <a:r>
                <a:t/>
              </a:r>
              <a:endParaRPr sz="1427"/>
            </a:p>
          </p:txBody>
        </p:sp>
        <p:pic>
          <p:nvPicPr>
            <p:cNvPr id="171" name="Google Shape;171;p22" title="image (1).png"/>
            <p:cNvPicPr preferRelativeResize="0"/>
            <p:nvPr/>
          </p:nvPicPr>
          <p:blipFill rotWithShape="1">
            <a:blip r:embed="rId3">
              <a:alphaModFix/>
            </a:blip>
            <a:srcRect b="12863" l="13600" r="13593" t="12863"/>
            <a:stretch/>
          </p:blipFill>
          <p:spPr>
            <a:xfrm>
              <a:off x="532400" y="3044700"/>
              <a:ext cx="986577" cy="670925"/>
            </a:xfrm>
            <a:prstGeom prst="rect">
              <a:avLst/>
            </a:prstGeom>
            <a:noFill/>
            <a:ln>
              <a:noFill/>
            </a:ln>
          </p:spPr>
        </p:pic>
      </p:grpSp>
      <p:sp>
        <p:nvSpPr>
          <p:cNvPr id="172" name="Google Shape;172;p22"/>
          <p:cNvSpPr txBox="1"/>
          <p:nvPr/>
        </p:nvSpPr>
        <p:spPr>
          <a:xfrm>
            <a:off x="137015" y="4622425"/>
            <a:ext cx="458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mbria"/>
                <a:ea typeface="Cambria"/>
                <a:cs typeface="Cambria"/>
                <a:sym typeface="Cambria"/>
              </a:rPr>
              <a:t>No pandas were harmed during the analysis process. 🐼</a:t>
            </a:r>
            <a:endParaRPr>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23"/>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Apple products are the main driver of revenue throughout the year and the seasonal period</a:t>
            </a:r>
            <a:endParaRPr b="1" sz="1800">
              <a:solidFill>
                <a:srgbClr val="434343"/>
              </a:solidFill>
              <a:latin typeface="Cambria"/>
              <a:ea typeface="Cambria"/>
              <a:cs typeface="Cambria"/>
              <a:sym typeface="Cambria"/>
            </a:endParaRPr>
          </a:p>
        </p:txBody>
      </p:sp>
      <p:sp>
        <p:nvSpPr>
          <p:cNvPr id="178" name="Google Shape;178;p23"/>
          <p:cNvSpPr txBox="1"/>
          <p:nvPr/>
        </p:nvSpPr>
        <p:spPr>
          <a:xfrm>
            <a:off x="5804650" y="1234372"/>
            <a:ext cx="3216300" cy="1949700"/>
          </a:xfrm>
          <a:prstGeom prst="rect">
            <a:avLst/>
          </a:prstGeom>
          <a:noFill/>
          <a:ln>
            <a:noFill/>
          </a:ln>
        </p:spPr>
        <p:txBody>
          <a:bodyPr anchorCtr="0" anchor="t" bIns="91425" lIns="0" spcFirstLastPara="1" rIns="0" wrap="square" tIns="91425">
            <a:spAutoFit/>
          </a:bodyPr>
          <a:lstStyle/>
          <a:p>
            <a:pPr indent="-317500" lvl="0" marL="457200" rtl="0" algn="l">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Apple's main sources of revenue - </a:t>
            </a:r>
            <a:r>
              <a:rPr b="1" lang="en">
                <a:solidFill>
                  <a:schemeClr val="dk1"/>
                </a:solidFill>
                <a:latin typeface="Cambria"/>
                <a:ea typeface="Cambria"/>
                <a:cs typeface="Cambria"/>
                <a:sym typeface="Cambria"/>
              </a:rPr>
              <a:t>desktop</a:t>
            </a:r>
            <a:r>
              <a:rPr b="1" lang="en">
                <a:solidFill>
                  <a:schemeClr val="dk1"/>
                </a:solidFill>
                <a:latin typeface="Cambria"/>
                <a:ea typeface="Cambria"/>
                <a:cs typeface="Cambria"/>
                <a:sym typeface="Cambria"/>
              </a:rPr>
              <a:t> and tablet</a:t>
            </a:r>
            <a:r>
              <a:rPr lang="en">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categories</a:t>
            </a:r>
            <a:r>
              <a:rPr lang="en">
                <a:solidFill>
                  <a:schemeClr val="dk1"/>
                </a:solidFill>
                <a:latin typeface="Cambria"/>
                <a:ea typeface="Cambria"/>
                <a:cs typeface="Cambria"/>
                <a:sym typeface="Cambria"/>
              </a:rPr>
              <a:t>.</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During non-seasonal periods, the emphasis on categories is little blurred.</a:t>
            </a:r>
            <a:endParaRPr>
              <a:solidFill>
                <a:schemeClr val="dk1"/>
              </a:solidFill>
              <a:latin typeface="Cambria"/>
              <a:ea typeface="Cambria"/>
              <a:cs typeface="Cambria"/>
              <a:sym typeface="Cambria"/>
            </a:endParaRPr>
          </a:p>
          <a:p>
            <a:pPr indent="0" lvl="0" marL="0" rtl="0" algn="l">
              <a:spcBef>
                <a:spcPts val="1000"/>
              </a:spcBef>
              <a:spcAft>
                <a:spcPts val="0"/>
              </a:spcAft>
              <a:buNone/>
            </a:pPr>
            <a:r>
              <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a:solidFill>
                <a:schemeClr val="dk1"/>
              </a:solidFill>
              <a:latin typeface="Cambria"/>
              <a:ea typeface="Cambria"/>
              <a:cs typeface="Cambria"/>
              <a:sym typeface="Cambria"/>
            </a:endParaRPr>
          </a:p>
        </p:txBody>
      </p:sp>
      <p:sp>
        <p:nvSpPr>
          <p:cNvPr id="179" name="Google Shape;179;p23"/>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80" name="Google Shape;180;p23"/>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81" name="Google Shape;181;p23"/>
          <p:cNvSpPr/>
          <p:nvPr/>
        </p:nvSpPr>
        <p:spPr>
          <a:xfrm>
            <a:off x="152401" y="1253213"/>
            <a:ext cx="5573700" cy="3193800"/>
          </a:xfrm>
          <a:prstGeom prst="roundRect">
            <a:avLst>
              <a:gd fmla="val 364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 name="Google Shape;182;p23" title="top-10_seas.png"/>
          <p:cNvPicPr preferRelativeResize="0"/>
          <p:nvPr/>
        </p:nvPicPr>
        <p:blipFill>
          <a:blip r:embed="rId4">
            <a:alphaModFix/>
          </a:blip>
          <a:stretch>
            <a:fillRect/>
          </a:stretch>
        </p:blipFill>
        <p:spPr>
          <a:xfrm>
            <a:off x="226100" y="1323825"/>
            <a:ext cx="5406941" cy="3078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 name="Shape 186"/>
        <p:cNvGrpSpPr/>
        <p:nvPr/>
      </p:nvGrpSpPr>
      <p:grpSpPr>
        <a:xfrm>
          <a:off x="0" y="0"/>
          <a:ext cx="0" cy="0"/>
          <a:chOff x="0" y="0"/>
          <a:chExt cx="0" cy="0"/>
        </a:xfrm>
      </p:grpSpPr>
      <p:sp>
        <p:nvSpPr>
          <p:cNvPr id="187" name="Google Shape;187;p24"/>
          <p:cNvSpPr txBox="1"/>
          <p:nvPr/>
        </p:nvSpPr>
        <p:spPr>
          <a:xfrm>
            <a:off x="319350" y="1170400"/>
            <a:ext cx="8505300" cy="2271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Discounts Are the Default: </a:t>
            </a:r>
            <a:r>
              <a:rPr lang="en">
                <a:latin typeface="Cambria"/>
                <a:ea typeface="Cambria"/>
                <a:cs typeface="Cambria"/>
                <a:sym typeface="Cambria"/>
              </a:rPr>
              <a:t>93% of order lines are sold at a discount, signaling permanent markdowns rather than tactical promotions.</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Sweet Spot at 20–25%:</a:t>
            </a:r>
            <a:r>
              <a:rPr lang="en">
                <a:latin typeface="Cambria"/>
                <a:ea typeface="Cambria"/>
                <a:cs typeface="Cambria"/>
                <a:sym typeface="Cambria"/>
              </a:rPr>
              <a:t> Revenue peaks at moderate discounts; deeper cuts (&gt;30%) fail to deliver incremental gains.</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Revenue Is Event-Led: </a:t>
            </a:r>
            <a:r>
              <a:rPr lang="en">
                <a:latin typeface="Cambria"/>
                <a:ea typeface="Cambria"/>
                <a:cs typeface="Cambria"/>
                <a:sym typeface="Cambria"/>
              </a:rPr>
              <a:t>Sales spikes are driven by calendar moments (Black Friday, Q4), not discount depth.</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Weak Daily Impact:</a:t>
            </a:r>
            <a:r>
              <a:rPr lang="en">
                <a:latin typeface="Cambria"/>
                <a:ea typeface="Cambria"/>
                <a:cs typeface="Cambria"/>
                <a:sym typeface="Cambria"/>
              </a:rPr>
              <a:t> Outside peak events, discount size has little influence on day-to-day revenue.</a:t>
            </a:r>
            <a:endParaRPr>
              <a:latin typeface="Cambria"/>
              <a:ea typeface="Cambria"/>
              <a:cs typeface="Cambria"/>
              <a:sym typeface="Cambria"/>
            </a:endParaRPr>
          </a:p>
        </p:txBody>
      </p:sp>
      <p:sp>
        <p:nvSpPr>
          <p:cNvPr id="188" name="Google Shape;188;p24"/>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Conclusions</a:t>
            </a:r>
            <a:endParaRPr b="1" sz="1800">
              <a:solidFill>
                <a:srgbClr val="434343"/>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